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258" r:id="rId4"/>
    <p:sldId id="260" r:id="rId5"/>
    <p:sldId id="259" r:id="rId6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4" r:id="rId21"/>
    <p:sldId id="288" r:id="rId22"/>
    <p:sldId id="289" r:id="rId23"/>
    <p:sldId id="290" r:id="rId24"/>
    <p:sldId id="291" r:id="rId25"/>
    <p:sldId id="292" r:id="rId26"/>
    <p:sldId id="29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84244" autoAdjust="0"/>
  </p:normalViewPr>
  <p:slideViewPr>
    <p:cSldViewPr snapToGrid="0">
      <p:cViewPr varScale="1">
        <p:scale>
          <a:sx n="103" d="100"/>
          <a:sy n="103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C2795-1A1C-411E-B748-EDC71645E3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43B33-DAE5-4655-807A-63D0C53CAB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...  -&gt;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this is the pseudocode of each iteration for each spring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77DBA-B1F2-4ED2-B23B-C69CDBCC5E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C76FE-139F-44E4-B575-5A91DA073B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14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847725" y="1360488"/>
            <a:ext cx="9144000" cy="2387600"/>
          </a:xfrm>
        </p:spPr>
        <p:txBody>
          <a:bodyPr/>
          <a:lstStyle/>
          <a:p>
            <a:pPr algn="l"/>
            <a:r>
              <a:rPr lang="en-US" altLang="zh-CN" b="1" dirty="0"/>
              <a:t>Data-driven computer animation</a:t>
            </a:r>
            <a:endParaRPr lang="zh-CN" altLang="en-US" b="1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847725" y="4038600"/>
            <a:ext cx="9629775" cy="19431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altLang="zh-CN" sz="3000" b="1" dirty="0"/>
              <a:t>Tutorial: Position Based Dynamics</a:t>
            </a:r>
            <a:endParaRPr lang="en-US" altLang="zh-CN" sz="3000" b="1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Prof. Taku Komura </a:t>
            </a:r>
            <a:endParaRPr lang="en-US" altLang="zh-CN" dirty="0"/>
          </a:p>
          <a:p>
            <a:pPr algn="l"/>
            <a:r>
              <a:rPr lang="en-US" altLang="zh-CN" dirty="0"/>
              <a:t>TAs: </a:t>
            </a:r>
            <a:r>
              <a:rPr lang="en-US" altLang="zh-CN" dirty="0" err="1"/>
              <a:t>Kemeng Huang</a:t>
            </a:r>
            <a:r>
              <a:rPr lang="en-US" altLang="zh-CN" dirty="0"/>
              <a:t>(kmhuang@cs.hku.hk)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 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a simple cloth simulator based on position based dynamics.</a:t>
            </a:r>
            <a:endParaRPr lang="en-US" altLang="zh-CN" dirty="0"/>
          </a:p>
          <a:p>
            <a:r>
              <a:rPr lang="en-US" altLang="zh-CN" dirty="0"/>
              <a:t>Due: 23:59, November 28</a:t>
            </a:r>
            <a:r>
              <a:rPr lang="en-US" altLang="zh-CN" baseline="30000" dirty="0"/>
              <a:t>th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Position Based Dynamics (PBD) is a physics simulation method that manipulates object positions to meet certain constraints, without direct incorporating physical principles.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chemeClr val="accent2"/>
                </a:solidFill>
              </a:rPr>
              <a:t>Advantage:</a:t>
            </a:r>
            <a:r>
              <a:rPr lang="en-US" altLang="zh-CN" dirty="0"/>
              <a:t> Enables real-time simulations for interactive applications such as video games and virtual reality.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Stiffness Issue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Real-world fabrics resist strongly to stretching, once they stretch beyond certain limits.</a:t>
            </a:r>
            <a:endParaRPr lang="en-US" altLang="zh-C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But large stiffness can cause problems.</a:t>
            </a:r>
            <a:endParaRPr lang="en-US" altLang="zh-CN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Explicit integrators will be </a:t>
            </a:r>
            <a:r>
              <a:rPr lang="en-US" altLang="zh-CN" i="1" dirty="0"/>
              <a:t>unstable</a:t>
            </a:r>
            <a:endParaRPr lang="en-US" altLang="zh-CN" dirty="0"/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2"/>
                </a:solidFill>
              </a:rPr>
              <a:t>Solution: smaller time steps with large time cost</a:t>
            </a:r>
            <a:r>
              <a:rPr lang="en-US" altLang="zh-CN" dirty="0"/>
              <a:t>.</a:t>
            </a:r>
            <a:endParaRPr lang="en-US" altLang="zh-CN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The linear systems involved in Implicit integrators will be </a:t>
            </a:r>
            <a:r>
              <a:rPr lang="en-US" altLang="zh-CN" i="1" dirty="0"/>
              <a:t>ill-conditioned, </a:t>
            </a:r>
            <a:r>
              <a:rPr lang="en-US" altLang="zh-CN" dirty="0"/>
              <a:t>resulting in large time cost for solving linear system.</a:t>
            </a:r>
            <a:endParaRPr lang="en-US" altLang="zh-CN" dirty="0"/>
          </a:p>
          <a:p>
            <a:pPr marL="457200" lvl="1" indent="0" algn="l">
              <a:buFont typeface="Arial" panose="020B0604020202020204" pitchFamily="34" charset="0"/>
              <a:buNone/>
            </a:pP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dirty="0"/>
              <a:t>Can we achieve high stiffness, with a low computational cost?</a:t>
            </a:r>
            <a:endParaRPr lang="en-US" altLang="zh-CN" sz="20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a spring is infinitely stiff, we can treat the length as a constraint. </a:t>
            </a:r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5"/>
              <p:cNvSpPr txBox="1"/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0" r="1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26"/>
          <p:cNvSpPr/>
          <p:nvPr/>
        </p:nvSpPr>
        <p:spPr>
          <a:xfrm>
            <a:off x="3142130" y="40113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7"/>
              <p:cNvSpPr txBox="1"/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9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6" r="1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28"/>
          <p:cNvSpPr/>
          <p:nvPr/>
        </p:nvSpPr>
        <p:spPr>
          <a:xfrm>
            <a:off x="1426574" y="40067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29"/>
              <p:cNvSpPr txBox="1"/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1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68" r="1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/>
          <p:cNvSpPr/>
          <p:nvPr/>
        </p:nvSpPr>
        <p:spPr>
          <a:xfrm>
            <a:off x="1623628" y="5552057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p:cxnSp>
        <p:nvCxnSpPr>
          <p:cNvPr id="18" name="Straight Connector 62"/>
          <p:cNvCxnSpPr>
            <a:stCxn id="10" idx="6"/>
            <a:endCxn id="8" idx="2"/>
          </p:cNvCxnSpPr>
          <p:nvPr/>
        </p:nvCxnSpPr>
        <p:spPr>
          <a:xfrm>
            <a:off x="1609862" y="4098411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79"/>
          <p:cNvSpPr/>
          <p:nvPr/>
        </p:nvSpPr>
        <p:spPr>
          <a:xfrm>
            <a:off x="5100342" y="3198167"/>
            <a:ext cx="56650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When the constraint is always satisfied, the spring has the rest length</a:t>
            </a:r>
            <a:endParaRPr lang="en-US" sz="2400" dirty="0"/>
          </a:p>
          <a:p>
            <a:r>
              <a:rPr lang="en-US" sz="2400" dirty="0"/>
              <a:t>= It is infinitely stiff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84"/>
              <p:cNvSpPr txBox="1"/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39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blipFill rotWithShape="1">
                <a:blip r:embed="rId4"/>
                <a:stretch>
                  <a:fillRect l="-198" t="-1538" r="-171" b="-143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we need now: a function that maps x to </a:t>
            </a:r>
            <a:r>
              <a:rPr lang="en-US" altLang="zh-CN" dirty="0" err="1"/>
              <a:t>x_new</a:t>
            </a:r>
            <a:r>
              <a:rPr lang="en-US" altLang="zh-CN" dirty="0"/>
              <a:t> so that the spring satisfies our constraint.</a:t>
            </a:r>
            <a:endParaRPr lang="zh-CN" alt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8242949" y="2768710"/>
            <a:ext cx="3218537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5" name="Title 1"/>
          <p:cNvSpPr txBox="1"/>
          <p:nvPr/>
        </p:nvSpPr>
        <p:spPr>
          <a:xfrm>
            <a:off x="4459054" y="2768710"/>
            <a:ext cx="3493336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cxnSp>
        <p:nvCxnSpPr>
          <p:cNvPr id="6" name="Straight Connector 3"/>
          <p:cNvCxnSpPr/>
          <p:nvPr/>
        </p:nvCxnSpPr>
        <p:spPr>
          <a:xfrm flipV="1">
            <a:off x="4906132" y="2973874"/>
            <a:ext cx="2233834" cy="29482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5"/>
              <p:cNvSpPr txBox="1"/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0" r="1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26"/>
          <p:cNvSpPr/>
          <p:nvPr/>
        </p:nvSpPr>
        <p:spPr>
          <a:xfrm>
            <a:off x="3142130" y="40113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7"/>
              <p:cNvSpPr txBox="1"/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9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6" r="1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28"/>
          <p:cNvSpPr/>
          <p:nvPr/>
        </p:nvSpPr>
        <p:spPr>
          <a:xfrm>
            <a:off x="1426574" y="40067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29"/>
              <p:cNvSpPr txBox="1"/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1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68" r="1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/>
          <p:cNvSpPr/>
          <p:nvPr/>
        </p:nvSpPr>
        <p:spPr>
          <a:xfrm>
            <a:off x="1623628" y="5552057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45"/>
              <p:cNvSpPr txBox="1"/>
              <p:nvPr/>
            </p:nvSpPr>
            <p:spPr>
              <a:xfrm>
                <a:off x="4984999" y="5786106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3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999" y="5786106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51" t="-168" r="100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47"/>
          <p:cNvSpPr/>
          <p:nvPr/>
        </p:nvSpPr>
        <p:spPr>
          <a:xfrm>
            <a:off x="7048322" y="287783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48"/>
          <p:cNvSpPr/>
          <p:nvPr/>
        </p:nvSpPr>
        <p:spPr>
          <a:xfrm>
            <a:off x="4820772" y="5833234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49"/>
              <p:cNvSpPr txBox="1"/>
              <p:nvPr/>
            </p:nvSpPr>
            <p:spPr>
              <a:xfrm>
                <a:off x="7139966" y="2945744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6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966" y="2945744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5" t="-154" r="54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60"/>
              <p:cNvSpPr txBox="1"/>
              <p:nvPr/>
            </p:nvSpPr>
            <p:spPr>
              <a:xfrm>
                <a:off x="5668113" y="5042979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7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113" y="5042979"/>
                <a:ext cx="486013" cy="370614"/>
              </a:xfrm>
              <a:prstGeom prst="rect">
                <a:avLst/>
              </a:prstGeom>
              <a:blipFill rotWithShape="1">
                <a:blip r:embed="rId4"/>
                <a:stretch>
                  <a:fillRect l="-21" t="-120" r="-29066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62"/>
          <p:cNvCxnSpPr>
            <a:stCxn id="10" idx="6"/>
            <a:endCxn id="8" idx="2"/>
          </p:cNvCxnSpPr>
          <p:nvPr/>
        </p:nvCxnSpPr>
        <p:spPr>
          <a:xfrm>
            <a:off x="1609862" y="4098411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64"/>
              <p:cNvSpPr txBox="1"/>
              <p:nvPr/>
            </p:nvSpPr>
            <p:spPr>
              <a:xfrm>
                <a:off x="6681759" y="3715782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9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759" y="3715782"/>
                <a:ext cx="486013" cy="412421"/>
              </a:xfrm>
              <a:prstGeom prst="rect">
                <a:avLst/>
              </a:prstGeom>
              <a:blipFill rotWithShape="1">
                <a:blip r:embed="rId5"/>
                <a:stretch>
                  <a:fillRect l="-59" t="-96" r="-29028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14"/>
          <p:cNvSpPr/>
          <p:nvPr/>
        </p:nvSpPr>
        <p:spPr>
          <a:xfrm rot="18518239">
            <a:off x="4758584" y="5344431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ight Arrow 65"/>
          <p:cNvSpPr/>
          <p:nvPr/>
        </p:nvSpPr>
        <p:spPr>
          <a:xfrm rot="18518239" flipH="1">
            <a:off x="6419911" y="3117455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66"/>
          <p:cNvCxnSpPr/>
          <p:nvPr/>
        </p:nvCxnSpPr>
        <p:spPr>
          <a:xfrm flipV="1">
            <a:off x="5594089" y="3683412"/>
            <a:ext cx="1016133" cy="134112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58"/>
          <p:cNvSpPr/>
          <p:nvPr/>
        </p:nvSpPr>
        <p:spPr>
          <a:xfrm>
            <a:off x="6488541" y="363716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61"/>
          <p:cNvSpPr/>
          <p:nvPr/>
        </p:nvSpPr>
        <p:spPr>
          <a:xfrm>
            <a:off x="5471012" y="497839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67"/>
          <p:cNvCxnSpPr/>
          <p:nvPr/>
        </p:nvCxnSpPr>
        <p:spPr>
          <a:xfrm>
            <a:off x="9095832" y="4077649"/>
            <a:ext cx="1368399" cy="1237499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68"/>
              <p:cNvSpPr txBox="1"/>
              <p:nvPr/>
            </p:nvSpPr>
            <p:spPr>
              <a:xfrm>
                <a:off x="9358633" y="3931445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6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633" y="3931445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" t="-43" r="50" b="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69"/>
          <p:cNvSpPr/>
          <p:nvPr/>
        </p:nvSpPr>
        <p:spPr>
          <a:xfrm>
            <a:off x="10436425" y="527233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Oval 70"/>
          <p:cNvSpPr/>
          <p:nvPr/>
        </p:nvSpPr>
        <p:spPr>
          <a:xfrm>
            <a:off x="10066907" y="494731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71"/>
              <p:cNvSpPr txBox="1"/>
              <p:nvPr/>
            </p:nvSpPr>
            <p:spPr>
              <a:xfrm>
                <a:off x="10007188" y="450883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9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188" y="450883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46" t="-83" r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72"/>
              <p:cNvSpPr txBox="1"/>
              <p:nvPr/>
            </p:nvSpPr>
            <p:spPr>
              <a:xfrm>
                <a:off x="9025018" y="3578286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30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018" y="3578286"/>
                <a:ext cx="486013" cy="370614"/>
              </a:xfrm>
              <a:prstGeom prst="rect">
                <a:avLst/>
              </a:prstGeom>
              <a:blipFill rotWithShape="1">
                <a:blip r:embed="rId4"/>
                <a:stretch>
                  <a:fillRect l="-82" t="-16" r="-29005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73"/>
              <p:cNvSpPr txBox="1"/>
              <p:nvPr/>
            </p:nvSpPr>
            <p:spPr>
              <a:xfrm>
                <a:off x="10436425" y="4802194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31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425" y="4802194"/>
                <a:ext cx="486013" cy="412421"/>
              </a:xfrm>
              <a:prstGeom prst="rect">
                <a:avLst/>
              </a:prstGeom>
              <a:blipFill rotWithShape="1">
                <a:blip r:embed="rId5"/>
                <a:stretch>
                  <a:fillRect l="-41" t="-79" r="-29046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74"/>
          <p:cNvSpPr/>
          <p:nvPr/>
        </p:nvSpPr>
        <p:spPr>
          <a:xfrm rot="2577772">
            <a:off x="9910098" y="5302243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ight Arrow 75"/>
          <p:cNvSpPr/>
          <p:nvPr/>
        </p:nvSpPr>
        <p:spPr>
          <a:xfrm rot="2639429" flipH="1">
            <a:off x="8846250" y="4353460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77"/>
          <p:cNvSpPr/>
          <p:nvPr/>
        </p:nvSpPr>
        <p:spPr>
          <a:xfrm>
            <a:off x="9031994" y="400302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5" name="Oval 78"/>
          <p:cNvSpPr/>
          <p:nvPr/>
        </p:nvSpPr>
        <p:spPr>
          <a:xfrm>
            <a:off x="9376339" y="432649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79"/>
          <p:cNvSpPr/>
          <p:nvPr/>
        </p:nvSpPr>
        <p:spPr>
          <a:xfrm>
            <a:off x="5295487" y="6293101"/>
            <a:ext cx="199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Stretched case</a:t>
            </a:r>
            <a:endParaRPr lang="en-US" sz="2400" dirty="0">
              <a:latin typeface="+mj-lt"/>
            </a:endParaRPr>
          </a:p>
        </p:txBody>
      </p:sp>
      <p:cxnSp>
        <p:nvCxnSpPr>
          <p:cNvPr id="37" name="Straight Connector 82"/>
          <p:cNvCxnSpPr/>
          <p:nvPr/>
        </p:nvCxnSpPr>
        <p:spPr>
          <a:xfrm>
            <a:off x="9522625" y="4482939"/>
            <a:ext cx="560964" cy="4912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83"/>
          <p:cNvSpPr/>
          <p:nvPr/>
        </p:nvSpPr>
        <p:spPr>
          <a:xfrm>
            <a:off x="8619770" y="6311236"/>
            <a:ext cx="2366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Compressed Case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84"/>
              <p:cNvSpPr txBox="1"/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39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blipFill rotWithShape="1">
                <a:blip r:embed="rId6"/>
                <a:stretch>
                  <a:fillRect l="-198" t="-1538" r="-171" b="-143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/>
      <p:bldP spid="14" grpId="0" animBg="1"/>
      <p:bldP spid="15" grpId="0" animBg="1"/>
      <p:bldP spid="16" grpId="0"/>
      <p:bldP spid="17" grpId="0"/>
      <p:bldP spid="19" grpId="0"/>
      <p:bldP spid="20" grpId="0" animBg="1"/>
      <p:bldP spid="21" grpId="0" animBg="1"/>
      <p:bldP spid="23" grpId="0" animBg="1"/>
      <p:bldP spid="24" grpId="0" animBg="1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Now the problem is how to move the point into the solution space (blue region).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5"/>
              <p:cNvSpPr txBox="1"/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0" r="1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26"/>
          <p:cNvSpPr/>
          <p:nvPr/>
        </p:nvSpPr>
        <p:spPr>
          <a:xfrm>
            <a:off x="3142130" y="40113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7"/>
              <p:cNvSpPr txBox="1"/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9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6" r="1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28"/>
          <p:cNvSpPr/>
          <p:nvPr/>
        </p:nvSpPr>
        <p:spPr>
          <a:xfrm>
            <a:off x="1426574" y="40067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29"/>
              <p:cNvSpPr txBox="1"/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1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68" r="1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/>
          <p:cNvSpPr/>
          <p:nvPr/>
        </p:nvSpPr>
        <p:spPr>
          <a:xfrm>
            <a:off x="1623628" y="5552057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p:cxnSp>
        <p:nvCxnSpPr>
          <p:cNvPr id="18" name="Straight Connector 62"/>
          <p:cNvCxnSpPr>
            <a:stCxn id="10" idx="6"/>
            <a:endCxn id="8" idx="2"/>
          </p:cNvCxnSpPr>
          <p:nvPr/>
        </p:nvCxnSpPr>
        <p:spPr>
          <a:xfrm>
            <a:off x="1609862" y="4098411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84"/>
              <p:cNvSpPr txBox="1"/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39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blipFill rotWithShape="1">
                <a:blip r:embed="rId4"/>
                <a:stretch>
                  <a:fillRect l="-198" t="-1538" r="-171" b="-143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Freeform 59"/>
          <p:cNvSpPr/>
          <p:nvPr/>
        </p:nvSpPr>
        <p:spPr>
          <a:xfrm>
            <a:off x="5040218" y="4695301"/>
            <a:ext cx="5577162" cy="2210823"/>
          </a:xfrm>
          <a:custGeom>
            <a:avLst/>
            <a:gdLst>
              <a:gd name="connsiteX0" fmla="*/ 11575 w 7176304"/>
              <a:gd name="connsiteY0" fmla="*/ 694481 h 3206187"/>
              <a:gd name="connsiteX1" fmla="*/ 7164730 w 7176304"/>
              <a:gd name="connsiteY1" fmla="*/ 0 h 3206187"/>
              <a:gd name="connsiteX2" fmla="*/ 7176304 w 7176304"/>
              <a:gd name="connsiteY2" fmla="*/ 3206187 h 3206187"/>
              <a:gd name="connsiteX3" fmla="*/ 0 w 7176304"/>
              <a:gd name="connsiteY3" fmla="*/ 3148314 h 3206187"/>
              <a:gd name="connsiteX4" fmla="*/ 11575 w 7176304"/>
              <a:gd name="connsiteY4" fmla="*/ 694481 h 320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4" h="3206187">
                <a:moveTo>
                  <a:pt x="11575" y="694481"/>
                </a:moveTo>
                <a:lnTo>
                  <a:pt x="7164730" y="0"/>
                </a:lnTo>
                <a:lnTo>
                  <a:pt x="7176304" y="3206187"/>
                </a:lnTo>
                <a:lnTo>
                  <a:pt x="0" y="3148314"/>
                </a:lnTo>
                <a:cubicBezTo>
                  <a:pt x="3858" y="2330370"/>
                  <a:pt x="7717" y="1512425"/>
                  <a:pt x="11575" y="69448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 63"/>
          <p:cNvSpPr/>
          <p:nvPr/>
        </p:nvSpPr>
        <p:spPr>
          <a:xfrm>
            <a:off x="5040218" y="4497599"/>
            <a:ext cx="5577162" cy="713152"/>
          </a:xfrm>
          <a:custGeom>
            <a:avLst/>
            <a:gdLst>
              <a:gd name="connsiteX0" fmla="*/ 0 w 7222603"/>
              <a:gd name="connsiteY0" fmla="*/ 997488 h 997488"/>
              <a:gd name="connsiteX1" fmla="*/ 3055717 w 7222603"/>
              <a:gd name="connsiteY1" fmla="*/ 36789 h 997488"/>
              <a:gd name="connsiteX2" fmla="*/ 7222603 w 7222603"/>
              <a:gd name="connsiteY2" fmla="*/ 291432 h 997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22603" h="997488">
                <a:moveTo>
                  <a:pt x="0" y="997488"/>
                </a:moveTo>
                <a:cubicBezTo>
                  <a:pt x="925975" y="575976"/>
                  <a:pt x="1851950" y="154465"/>
                  <a:pt x="3055717" y="36789"/>
                </a:cubicBezTo>
                <a:cubicBezTo>
                  <a:pt x="4259484" y="-80887"/>
                  <a:pt x="5741043" y="105272"/>
                  <a:pt x="7222603" y="291432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5"/>
              <p:cNvSpPr/>
              <p:nvPr/>
            </p:nvSpPr>
            <p:spPr>
              <a:xfrm>
                <a:off x="8071427" y="5461918"/>
                <a:ext cx="2545953" cy="3758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427" y="5461918"/>
                <a:ext cx="2545953" cy="375872"/>
              </a:xfrm>
              <a:prstGeom prst="rect">
                <a:avLst/>
              </a:prstGeom>
              <a:blipFill rotWithShape="1">
                <a:blip r:embed="rId5"/>
                <a:stretch>
                  <a:fillRect l="-23" t="-75" r="7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7"/>
              <p:cNvSpPr/>
              <p:nvPr/>
            </p:nvSpPr>
            <p:spPr>
              <a:xfrm>
                <a:off x="9227318" y="4213901"/>
                <a:ext cx="14409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Boundary </a:t>
                </a:r>
                <a14:m>
                  <m:oMath xmlns:m="http://schemas.openxmlformats.org/officeDocument/2006/math">
                    <m:r>
                      <a:rPr lang="el-GR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l-GR" b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𝛀</m:t>
                    </m:r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318" y="4213901"/>
                <a:ext cx="144097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9" t="-11" r="-3461" b="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76"/>
          <p:cNvSpPr/>
          <p:nvPr/>
        </p:nvSpPr>
        <p:spPr>
          <a:xfrm>
            <a:off x="6997652" y="3736678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84"/>
              <p:cNvSpPr txBox="1"/>
              <p:nvPr/>
            </p:nvSpPr>
            <p:spPr>
              <a:xfrm>
                <a:off x="7327625" y="3738076"/>
                <a:ext cx="1621544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47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625" y="3738076"/>
                <a:ext cx="1621544" cy="399084"/>
              </a:xfrm>
              <a:prstGeom prst="rect">
                <a:avLst/>
              </a:prstGeom>
              <a:blipFill rotWithShape="1">
                <a:blip r:embed="rId7"/>
                <a:stretch>
                  <a:fillRect l="-22" t="-117" r="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86"/>
          <p:cNvSpPr/>
          <p:nvPr/>
        </p:nvSpPr>
        <p:spPr>
          <a:xfrm>
            <a:off x="6642256" y="464076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87"/>
          <p:cNvSpPr/>
          <p:nvPr/>
        </p:nvSpPr>
        <p:spPr>
          <a:xfrm>
            <a:off x="7025502" y="498381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88"/>
          <p:cNvSpPr/>
          <p:nvPr/>
        </p:nvSpPr>
        <p:spPr>
          <a:xfrm>
            <a:off x="7594973" y="476253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89"/>
          <p:cNvSpPr/>
          <p:nvPr/>
        </p:nvSpPr>
        <p:spPr>
          <a:xfrm>
            <a:off x="7888139" y="451662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4643" y="1559553"/>
            <a:ext cx="10515600" cy="4351338"/>
          </a:xfrm>
        </p:spPr>
        <p:txBody>
          <a:bodyPr/>
          <a:lstStyle/>
          <a:p>
            <a:r>
              <a:rPr lang="en-US" altLang="zh-CN" dirty="0"/>
              <a:t>We want the moving distance to be as small as possible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 This becomes a projection problem.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5"/>
              <p:cNvSpPr txBox="1"/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26" y="4162537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0" r="1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26"/>
          <p:cNvSpPr/>
          <p:nvPr/>
        </p:nvSpPr>
        <p:spPr>
          <a:xfrm>
            <a:off x="3142130" y="40113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7"/>
              <p:cNvSpPr txBox="1"/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9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628" y="3646636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6" r="1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28"/>
          <p:cNvSpPr/>
          <p:nvPr/>
        </p:nvSpPr>
        <p:spPr>
          <a:xfrm>
            <a:off x="1426574" y="40067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29"/>
              <p:cNvSpPr txBox="1"/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11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03" y="414174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68" r="1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/>
          <p:cNvSpPr/>
          <p:nvPr/>
        </p:nvSpPr>
        <p:spPr>
          <a:xfrm>
            <a:off x="1623628" y="5552057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p:cxnSp>
        <p:nvCxnSpPr>
          <p:cNvPr id="18" name="Straight Connector 62"/>
          <p:cNvCxnSpPr>
            <a:stCxn id="10" idx="6"/>
            <a:endCxn id="8" idx="2"/>
          </p:cNvCxnSpPr>
          <p:nvPr/>
        </p:nvCxnSpPr>
        <p:spPr>
          <a:xfrm>
            <a:off x="1609862" y="4098411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84"/>
              <p:cNvSpPr txBox="1"/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39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3" y="5078923"/>
                <a:ext cx="3439186" cy="425501"/>
              </a:xfrm>
              <a:prstGeom prst="rect">
                <a:avLst/>
              </a:prstGeom>
              <a:blipFill rotWithShape="1">
                <a:blip r:embed="rId4"/>
                <a:stretch>
                  <a:fillRect l="-198" t="-1538" r="-171" b="-143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90"/>
          <p:cNvCxnSpPr>
            <a:stCxn id="46" idx="0"/>
          </p:cNvCxnSpPr>
          <p:nvPr/>
        </p:nvCxnSpPr>
        <p:spPr>
          <a:xfrm>
            <a:off x="7089296" y="3741123"/>
            <a:ext cx="71324" cy="720799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59"/>
          <p:cNvSpPr/>
          <p:nvPr/>
        </p:nvSpPr>
        <p:spPr>
          <a:xfrm>
            <a:off x="5040218" y="4699746"/>
            <a:ext cx="5577162" cy="2210823"/>
          </a:xfrm>
          <a:custGeom>
            <a:avLst/>
            <a:gdLst>
              <a:gd name="connsiteX0" fmla="*/ 11575 w 7176304"/>
              <a:gd name="connsiteY0" fmla="*/ 694481 h 3206187"/>
              <a:gd name="connsiteX1" fmla="*/ 7164730 w 7176304"/>
              <a:gd name="connsiteY1" fmla="*/ 0 h 3206187"/>
              <a:gd name="connsiteX2" fmla="*/ 7176304 w 7176304"/>
              <a:gd name="connsiteY2" fmla="*/ 3206187 h 3206187"/>
              <a:gd name="connsiteX3" fmla="*/ 0 w 7176304"/>
              <a:gd name="connsiteY3" fmla="*/ 3148314 h 3206187"/>
              <a:gd name="connsiteX4" fmla="*/ 11575 w 7176304"/>
              <a:gd name="connsiteY4" fmla="*/ 694481 h 320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4" h="3206187">
                <a:moveTo>
                  <a:pt x="11575" y="694481"/>
                </a:moveTo>
                <a:lnTo>
                  <a:pt x="7164730" y="0"/>
                </a:lnTo>
                <a:lnTo>
                  <a:pt x="7176304" y="3206187"/>
                </a:lnTo>
                <a:lnTo>
                  <a:pt x="0" y="3148314"/>
                </a:lnTo>
                <a:cubicBezTo>
                  <a:pt x="3858" y="2330370"/>
                  <a:pt x="7717" y="1512425"/>
                  <a:pt x="11575" y="69448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 63"/>
          <p:cNvSpPr/>
          <p:nvPr/>
        </p:nvSpPr>
        <p:spPr>
          <a:xfrm>
            <a:off x="5040218" y="4502044"/>
            <a:ext cx="5577162" cy="713152"/>
          </a:xfrm>
          <a:custGeom>
            <a:avLst/>
            <a:gdLst>
              <a:gd name="connsiteX0" fmla="*/ 0 w 7222603"/>
              <a:gd name="connsiteY0" fmla="*/ 997488 h 997488"/>
              <a:gd name="connsiteX1" fmla="*/ 3055717 w 7222603"/>
              <a:gd name="connsiteY1" fmla="*/ 36789 h 997488"/>
              <a:gd name="connsiteX2" fmla="*/ 7222603 w 7222603"/>
              <a:gd name="connsiteY2" fmla="*/ 291432 h 997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22603" h="997488">
                <a:moveTo>
                  <a:pt x="0" y="997488"/>
                </a:moveTo>
                <a:cubicBezTo>
                  <a:pt x="925975" y="575976"/>
                  <a:pt x="1851950" y="154465"/>
                  <a:pt x="3055717" y="36789"/>
                </a:cubicBezTo>
                <a:cubicBezTo>
                  <a:pt x="4259484" y="-80887"/>
                  <a:pt x="5741043" y="105272"/>
                  <a:pt x="7222603" y="291432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5"/>
              <p:cNvSpPr/>
              <p:nvPr/>
            </p:nvSpPr>
            <p:spPr>
              <a:xfrm>
                <a:off x="8071427" y="5466363"/>
                <a:ext cx="2545953" cy="3758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427" y="5466363"/>
                <a:ext cx="2545953" cy="375872"/>
              </a:xfrm>
              <a:prstGeom prst="rect">
                <a:avLst/>
              </a:prstGeom>
              <a:blipFill rotWithShape="1">
                <a:blip r:embed="rId5"/>
                <a:stretch>
                  <a:fillRect l="-23" t="-75" r="7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7"/>
              <p:cNvSpPr/>
              <p:nvPr/>
            </p:nvSpPr>
            <p:spPr>
              <a:xfrm>
                <a:off x="9227318" y="4218346"/>
                <a:ext cx="14409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Boundary </a:t>
                </a:r>
                <a14:m>
                  <m:oMath xmlns:m="http://schemas.openxmlformats.org/officeDocument/2006/math">
                    <m:r>
                      <a:rPr lang="el-GR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l-GR" b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𝛀</m:t>
                    </m:r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318" y="4218346"/>
                <a:ext cx="144097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9" t="-11" r="-3461" b="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76"/>
          <p:cNvSpPr/>
          <p:nvPr/>
        </p:nvSpPr>
        <p:spPr>
          <a:xfrm>
            <a:off x="6997652" y="374112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84"/>
              <p:cNvSpPr txBox="1"/>
              <p:nvPr/>
            </p:nvSpPr>
            <p:spPr>
              <a:xfrm>
                <a:off x="7335245" y="3745061"/>
                <a:ext cx="1621544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47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245" y="3745061"/>
                <a:ext cx="1621544" cy="399084"/>
              </a:xfrm>
              <a:prstGeom prst="rect">
                <a:avLst/>
              </a:prstGeom>
              <a:blipFill rotWithShape="1">
                <a:blip r:embed="rId7"/>
                <a:stretch>
                  <a:fillRect l="-22" t="-117" r="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85"/>
          <p:cNvSpPr/>
          <p:nvPr/>
        </p:nvSpPr>
        <p:spPr>
          <a:xfrm>
            <a:off x="7089296" y="4461922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86"/>
          <p:cNvSpPr/>
          <p:nvPr/>
        </p:nvSpPr>
        <p:spPr>
          <a:xfrm>
            <a:off x="6642256" y="4645210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87"/>
          <p:cNvSpPr/>
          <p:nvPr/>
        </p:nvSpPr>
        <p:spPr>
          <a:xfrm>
            <a:off x="7025502" y="498826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88"/>
          <p:cNvSpPr/>
          <p:nvPr/>
        </p:nvSpPr>
        <p:spPr>
          <a:xfrm>
            <a:off x="7594973" y="476697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89"/>
          <p:cNvSpPr/>
          <p:nvPr/>
        </p:nvSpPr>
        <p:spPr>
          <a:xfrm>
            <a:off x="7888139" y="452106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72"/>
              <p:cNvSpPr txBox="1"/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box>
                        <m:box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blipFill rotWithShape="1">
                <a:blip r:embed="rId8"/>
                <a:stretch>
                  <a:fillRect l="-7" t="-113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6"/>
              <p:cNvSpPr txBox="1"/>
              <p:nvPr/>
            </p:nvSpPr>
            <p:spPr>
              <a:xfrm>
                <a:off x="6261353" y="3249070"/>
                <a:ext cx="274320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>
                    <a:latin typeface="+mj-lt"/>
                    <a:ea typeface="Cambria Math" panose="02040503050406030204" pitchFamily="18" charset="0"/>
                  </a:rPr>
                  <a:t>s</a:t>
                </a:r>
                <a:r>
                  <a:rPr lang="en-US" sz="2400" b="0" dirty="0">
                    <a:latin typeface="+mj-lt"/>
                    <a:ea typeface="Cambria Math" panose="02040503050406030204" pitchFamily="18" charset="0"/>
                  </a:rPr>
                  <a:t>uch that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353" y="3249070"/>
                <a:ext cx="274320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9" t="-111" r="9" b="4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4643" y="1559553"/>
            <a:ext cx="10515600" cy="4351338"/>
          </a:xfrm>
        </p:spPr>
        <p:txBody>
          <a:bodyPr/>
          <a:lstStyle/>
          <a:p>
            <a:r>
              <a:rPr lang="en-US" altLang="zh-CN" dirty="0"/>
              <a:t>We want the moving distance to be as small as possible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 This becomes a projection problem.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72"/>
              <p:cNvSpPr txBox="1"/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box>
                        <m:box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blipFill rotWithShape="1">
                <a:blip r:embed="rId1"/>
                <a:stretch>
                  <a:fillRect l="-7" t="-113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6"/>
              <p:cNvSpPr txBox="1"/>
              <p:nvPr/>
            </p:nvSpPr>
            <p:spPr>
              <a:xfrm>
                <a:off x="6349618" y="3265580"/>
                <a:ext cx="274320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>
                    <a:latin typeface="+mj-lt"/>
                    <a:ea typeface="Cambria Math" panose="02040503050406030204" pitchFamily="18" charset="0"/>
                  </a:rPr>
                  <a:t>s</a:t>
                </a:r>
                <a:r>
                  <a:rPr lang="en-US" sz="2400" b="0" dirty="0">
                    <a:latin typeface="+mj-lt"/>
                    <a:ea typeface="Cambria Math" panose="02040503050406030204" pitchFamily="18" charset="0"/>
                  </a:rPr>
                  <a:t>uch that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618" y="3265580"/>
                <a:ext cx="27432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9" t="-111" r="9" b="4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/>
          <p:nvPr/>
        </p:nvSpPr>
        <p:spPr>
          <a:xfrm>
            <a:off x="4710159" y="4412372"/>
            <a:ext cx="5968179" cy="1766305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13" name="Right Arrow 26"/>
          <p:cNvSpPr/>
          <p:nvPr/>
        </p:nvSpPr>
        <p:spPr>
          <a:xfrm rot="5400000">
            <a:off x="7479143" y="2961335"/>
            <a:ext cx="468727" cy="2253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"/>
              <p:cNvSpPr/>
              <p:nvPr/>
            </p:nvSpPr>
            <p:spPr>
              <a:xfrm>
                <a:off x="4674398" y="4918825"/>
                <a:ext cx="6049376" cy="664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98" y="4918825"/>
                <a:ext cx="6049376" cy="664093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9"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28"/>
              <p:cNvSpPr/>
              <p:nvPr/>
            </p:nvSpPr>
            <p:spPr>
              <a:xfrm>
                <a:off x="4791710" y="5504180"/>
                <a:ext cx="6285230" cy="7562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710" y="5504180"/>
                <a:ext cx="6285230" cy="7562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31"/>
              <p:cNvSpPr txBox="1"/>
              <p:nvPr/>
            </p:nvSpPr>
            <p:spPr>
              <a:xfrm>
                <a:off x="6134688" y="4483082"/>
                <a:ext cx="311912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Projection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16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688" y="4483082"/>
                <a:ext cx="311912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" t="-167" r="19" b="10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/>
          <p:cNvSpPr txBox="1"/>
          <p:nvPr/>
        </p:nvSpPr>
        <p:spPr>
          <a:xfrm>
            <a:off x="504559" y="3122779"/>
            <a:ext cx="3493336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cxnSp>
        <p:nvCxnSpPr>
          <p:cNvPr id="19" name="Straight Connector 3"/>
          <p:cNvCxnSpPr/>
          <p:nvPr/>
        </p:nvCxnSpPr>
        <p:spPr>
          <a:xfrm flipV="1">
            <a:off x="951637" y="3327943"/>
            <a:ext cx="2233834" cy="29482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5"/>
              <p:cNvSpPr txBox="1"/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0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10" t="-97" r="2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47"/>
          <p:cNvSpPr/>
          <p:nvPr/>
        </p:nvSpPr>
        <p:spPr>
          <a:xfrm>
            <a:off x="3093827" y="323190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48"/>
          <p:cNvSpPr/>
          <p:nvPr/>
        </p:nvSpPr>
        <p:spPr>
          <a:xfrm>
            <a:off x="866277" y="618730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49"/>
              <p:cNvSpPr txBox="1"/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3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blipFill rotWithShape="1">
                <a:blip r:embed="rId7"/>
                <a:stretch>
                  <a:fillRect l="-64" t="-88" r="1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60"/>
              <p:cNvSpPr txBox="1"/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4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blipFill rotWithShape="1">
                <a:blip r:embed="rId8"/>
                <a:stretch>
                  <a:fillRect l="-80" t="-49" r="-29007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64"/>
              <p:cNvSpPr txBox="1"/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blipFill rotWithShape="1">
                <a:blip r:embed="rId9"/>
                <a:stretch>
                  <a:fillRect l="-118" t="-33" r="-28969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Arrow 14"/>
          <p:cNvSpPr/>
          <p:nvPr/>
        </p:nvSpPr>
        <p:spPr>
          <a:xfrm rot="18518239">
            <a:off x="804089" y="5698500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65"/>
          <p:cNvSpPr/>
          <p:nvPr/>
        </p:nvSpPr>
        <p:spPr>
          <a:xfrm rot="18518239" flipH="1">
            <a:off x="2465416" y="3471524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66"/>
          <p:cNvCxnSpPr/>
          <p:nvPr/>
        </p:nvCxnSpPr>
        <p:spPr>
          <a:xfrm flipV="1">
            <a:off x="1639594" y="4037481"/>
            <a:ext cx="1016133" cy="134112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58"/>
          <p:cNvSpPr/>
          <p:nvPr/>
        </p:nvSpPr>
        <p:spPr>
          <a:xfrm>
            <a:off x="2534046" y="3991232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61"/>
          <p:cNvSpPr/>
          <p:nvPr/>
        </p:nvSpPr>
        <p:spPr>
          <a:xfrm>
            <a:off x="1516517" y="5332464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56"/>
          <p:cNvSpPr txBox="1"/>
          <p:nvPr/>
        </p:nvSpPr>
        <p:spPr>
          <a:xfrm>
            <a:off x="8566150" y="3777615"/>
            <a:ext cx="3576320" cy="245745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ea typeface="Cambria Math" panose="02040503050406030204" pitchFamily="18" charset="0"/>
              </a:rPr>
              <a:t>The center of mass need to be kept</a:t>
            </a:r>
            <a:endParaRPr lang="en-US" sz="16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4643" y="1559553"/>
            <a:ext cx="10515600" cy="4351338"/>
          </a:xfrm>
        </p:spPr>
        <p:txBody>
          <a:bodyPr/>
          <a:lstStyle/>
          <a:p>
            <a:r>
              <a:rPr lang="en-US" altLang="zh-CN" dirty="0"/>
              <a:t>We want the moving distance to be as small as possible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 This becomes a projection problem.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72"/>
              <p:cNvSpPr txBox="1"/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box>
                        <m:box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blipFill rotWithShape="1">
                <a:blip r:embed="rId1"/>
                <a:stretch>
                  <a:fillRect l="-7" t="-113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6"/>
              <p:cNvSpPr txBox="1"/>
              <p:nvPr/>
            </p:nvSpPr>
            <p:spPr>
              <a:xfrm>
                <a:off x="9054121" y="3102466"/>
                <a:ext cx="274320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>
                    <a:latin typeface="+mj-lt"/>
                    <a:ea typeface="Cambria Math" panose="02040503050406030204" pitchFamily="18" charset="0"/>
                  </a:rPr>
                  <a:t>s</a:t>
                </a:r>
                <a:r>
                  <a:rPr lang="en-US" sz="2400" b="0" dirty="0">
                    <a:latin typeface="+mj-lt"/>
                    <a:ea typeface="Cambria Math" panose="02040503050406030204" pitchFamily="18" charset="0"/>
                  </a:rPr>
                  <a:t>uch that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121" y="3102466"/>
                <a:ext cx="27432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1" t="-133" r="11" b="6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/>
          <p:nvPr/>
        </p:nvSpPr>
        <p:spPr>
          <a:xfrm>
            <a:off x="4710159" y="3793247"/>
            <a:ext cx="5968179" cy="1766305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13" name="Right Arrow 26"/>
          <p:cNvSpPr/>
          <p:nvPr/>
        </p:nvSpPr>
        <p:spPr>
          <a:xfrm rot="5400000">
            <a:off x="7479143" y="2342210"/>
            <a:ext cx="468727" cy="2253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"/>
              <p:cNvSpPr/>
              <p:nvPr/>
            </p:nvSpPr>
            <p:spPr>
              <a:xfrm>
                <a:off x="4674398" y="4299700"/>
                <a:ext cx="6049376" cy="664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98" y="4299700"/>
                <a:ext cx="6049376" cy="664093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9"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28"/>
              <p:cNvSpPr/>
              <p:nvPr/>
            </p:nvSpPr>
            <p:spPr>
              <a:xfrm>
                <a:off x="4652010" y="4885055"/>
                <a:ext cx="6504940" cy="7562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10" y="4885055"/>
                <a:ext cx="6504940" cy="7562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31"/>
              <p:cNvSpPr txBox="1"/>
              <p:nvPr/>
            </p:nvSpPr>
            <p:spPr>
              <a:xfrm>
                <a:off x="6134688" y="3863957"/>
                <a:ext cx="311912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Projection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16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688" y="3863957"/>
                <a:ext cx="311912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" t="-167" r="19" b="10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/>
          <p:cNvSpPr txBox="1"/>
          <p:nvPr/>
        </p:nvSpPr>
        <p:spPr>
          <a:xfrm>
            <a:off x="504559" y="3122779"/>
            <a:ext cx="3493336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cxnSp>
        <p:nvCxnSpPr>
          <p:cNvPr id="19" name="Straight Connector 3"/>
          <p:cNvCxnSpPr/>
          <p:nvPr/>
        </p:nvCxnSpPr>
        <p:spPr>
          <a:xfrm flipV="1">
            <a:off x="951637" y="3327943"/>
            <a:ext cx="2233834" cy="29482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5"/>
              <p:cNvSpPr txBox="1"/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0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10" t="-97" r="2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47"/>
          <p:cNvSpPr/>
          <p:nvPr/>
        </p:nvSpPr>
        <p:spPr>
          <a:xfrm>
            <a:off x="3093827" y="323190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48"/>
          <p:cNvSpPr/>
          <p:nvPr/>
        </p:nvSpPr>
        <p:spPr>
          <a:xfrm>
            <a:off x="866277" y="618730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49"/>
              <p:cNvSpPr txBox="1"/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3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blipFill rotWithShape="1">
                <a:blip r:embed="rId7"/>
                <a:stretch>
                  <a:fillRect l="-64" t="-88" r="1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60"/>
              <p:cNvSpPr txBox="1"/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4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blipFill rotWithShape="1">
                <a:blip r:embed="rId8"/>
                <a:stretch>
                  <a:fillRect l="-80" t="-49" r="-29007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64"/>
              <p:cNvSpPr txBox="1"/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blipFill rotWithShape="1">
                <a:blip r:embed="rId9"/>
                <a:stretch>
                  <a:fillRect l="-118" t="-33" r="-28969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Arrow 14"/>
          <p:cNvSpPr/>
          <p:nvPr/>
        </p:nvSpPr>
        <p:spPr>
          <a:xfrm rot="18518239">
            <a:off x="804089" y="5698500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65"/>
          <p:cNvSpPr/>
          <p:nvPr/>
        </p:nvSpPr>
        <p:spPr>
          <a:xfrm rot="18518239" flipH="1">
            <a:off x="2465416" y="3471524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66"/>
          <p:cNvCxnSpPr/>
          <p:nvPr/>
        </p:nvCxnSpPr>
        <p:spPr>
          <a:xfrm flipV="1">
            <a:off x="1639594" y="4037481"/>
            <a:ext cx="1016133" cy="134112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58"/>
          <p:cNvSpPr/>
          <p:nvPr/>
        </p:nvSpPr>
        <p:spPr>
          <a:xfrm>
            <a:off x="2534046" y="3991232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61"/>
          <p:cNvSpPr/>
          <p:nvPr/>
        </p:nvSpPr>
        <p:spPr>
          <a:xfrm>
            <a:off x="1516517" y="5332464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56"/>
              <p:cNvSpPr txBox="1"/>
              <p:nvPr/>
            </p:nvSpPr>
            <p:spPr>
              <a:xfrm>
                <a:off x="4464685" y="6117590"/>
                <a:ext cx="7644130" cy="64071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685" y="6117590"/>
                <a:ext cx="7644130" cy="64071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56"/>
          <p:cNvSpPr txBox="1"/>
          <p:nvPr/>
        </p:nvSpPr>
        <p:spPr>
          <a:xfrm>
            <a:off x="4674398" y="5696335"/>
            <a:ext cx="403198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ea typeface="Cambria Math" panose="02040503050406030204" pitchFamily="18" charset="0"/>
              </a:rPr>
              <a:t>The center of mass is kept</a:t>
            </a:r>
            <a:endParaRPr lang="en-US" sz="24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Single Spring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4643" y="1559553"/>
            <a:ext cx="10515600" cy="4351338"/>
          </a:xfrm>
        </p:spPr>
        <p:txBody>
          <a:bodyPr/>
          <a:lstStyle/>
          <a:p>
            <a:r>
              <a:rPr lang="en-US" altLang="zh-CN" dirty="0"/>
              <a:t>We want the moving distance to be as small as possible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 This becomes a projection problem.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72"/>
              <p:cNvSpPr txBox="1"/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box>
                        <m:box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accent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new</m:t>
                                      </m:r>
                                    </m:sup>
                                  </m:sSub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148" y="2566665"/>
                <a:ext cx="8320226" cy="556114"/>
              </a:xfrm>
              <a:prstGeom prst="rect">
                <a:avLst/>
              </a:prstGeom>
              <a:blipFill rotWithShape="1">
                <a:blip r:embed="rId1"/>
                <a:stretch>
                  <a:fillRect l="-7" t="-113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6"/>
              <p:cNvSpPr txBox="1"/>
              <p:nvPr/>
            </p:nvSpPr>
            <p:spPr>
              <a:xfrm>
                <a:off x="9054121" y="3102466"/>
                <a:ext cx="274320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>
                    <a:latin typeface="+mj-lt"/>
                    <a:ea typeface="Cambria Math" panose="02040503050406030204" pitchFamily="18" charset="0"/>
                  </a:rPr>
                  <a:t>s</a:t>
                </a:r>
                <a:r>
                  <a:rPr lang="en-US" sz="2400" b="0" dirty="0">
                    <a:latin typeface="+mj-lt"/>
                    <a:ea typeface="Cambria Math" panose="02040503050406030204" pitchFamily="18" charset="0"/>
                  </a:rPr>
                  <a:t>uch that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121" y="3102466"/>
                <a:ext cx="27432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1" t="-133" r="11" b="6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/>
          <p:nvPr/>
        </p:nvSpPr>
        <p:spPr>
          <a:xfrm>
            <a:off x="4710159" y="3793247"/>
            <a:ext cx="5968179" cy="1766305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13" name="Right Arrow 26"/>
          <p:cNvSpPr/>
          <p:nvPr/>
        </p:nvSpPr>
        <p:spPr>
          <a:xfrm rot="5400000">
            <a:off x="7479143" y="2342210"/>
            <a:ext cx="468727" cy="2253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"/>
              <p:cNvSpPr/>
              <p:nvPr/>
            </p:nvSpPr>
            <p:spPr>
              <a:xfrm>
                <a:off x="4674398" y="4299700"/>
                <a:ext cx="6049376" cy="664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98" y="4299700"/>
                <a:ext cx="6049376" cy="664093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9"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28"/>
              <p:cNvSpPr/>
              <p:nvPr/>
            </p:nvSpPr>
            <p:spPr>
              <a:xfrm>
                <a:off x="4477385" y="4885055"/>
                <a:ext cx="6849745" cy="7562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85" y="4885055"/>
                <a:ext cx="6849745" cy="7562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31"/>
              <p:cNvSpPr txBox="1"/>
              <p:nvPr/>
            </p:nvSpPr>
            <p:spPr>
              <a:xfrm>
                <a:off x="6134688" y="3863957"/>
                <a:ext cx="311912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Projection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16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688" y="3863957"/>
                <a:ext cx="311912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" t="-167" r="19" b="10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/>
          <p:cNvSpPr txBox="1"/>
          <p:nvPr/>
        </p:nvSpPr>
        <p:spPr>
          <a:xfrm>
            <a:off x="504559" y="3122779"/>
            <a:ext cx="3493336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cxnSp>
        <p:nvCxnSpPr>
          <p:cNvPr id="19" name="Straight Connector 3"/>
          <p:cNvCxnSpPr/>
          <p:nvPr/>
        </p:nvCxnSpPr>
        <p:spPr>
          <a:xfrm flipV="1">
            <a:off x="951637" y="3327943"/>
            <a:ext cx="2233834" cy="29482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5"/>
              <p:cNvSpPr txBox="1"/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0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04" y="6140175"/>
                <a:ext cx="48601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10" t="-97" r="2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47"/>
          <p:cNvSpPr/>
          <p:nvPr/>
        </p:nvSpPr>
        <p:spPr>
          <a:xfrm>
            <a:off x="3093827" y="323190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48"/>
          <p:cNvSpPr/>
          <p:nvPr/>
        </p:nvSpPr>
        <p:spPr>
          <a:xfrm>
            <a:off x="866277" y="6187303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49"/>
              <p:cNvSpPr txBox="1"/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23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1" y="3299813"/>
                <a:ext cx="486013" cy="399084"/>
              </a:xfrm>
              <a:prstGeom prst="rect">
                <a:avLst/>
              </a:prstGeom>
              <a:blipFill rotWithShape="1">
                <a:blip r:embed="rId7"/>
                <a:stretch>
                  <a:fillRect l="-64" t="-88" r="1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60"/>
              <p:cNvSpPr txBox="1"/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4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18" y="5397048"/>
                <a:ext cx="486013" cy="370614"/>
              </a:xfrm>
              <a:prstGeom prst="rect">
                <a:avLst/>
              </a:prstGeom>
              <a:blipFill rotWithShape="1">
                <a:blip r:embed="rId8"/>
                <a:stretch>
                  <a:fillRect l="-80" t="-49" r="-29007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64"/>
              <p:cNvSpPr txBox="1"/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64" y="4069851"/>
                <a:ext cx="486013" cy="412421"/>
              </a:xfrm>
              <a:prstGeom prst="rect">
                <a:avLst/>
              </a:prstGeom>
              <a:blipFill rotWithShape="1">
                <a:blip r:embed="rId9"/>
                <a:stretch>
                  <a:fillRect l="-118" t="-33" r="-28969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Arrow 14"/>
          <p:cNvSpPr/>
          <p:nvPr/>
        </p:nvSpPr>
        <p:spPr>
          <a:xfrm rot="18518239">
            <a:off x="804089" y="5698500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65"/>
          <p:cNvSpPr/>
          <p:nvPr/>
        </p:nvSpPr>
        <p:spPr>
          <a:xfrm rot="18518239" flipH="1">
            <a:off x="2465416" y="3471524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66"/>
          <p:cNvCxnSpPr/>
          <p:nvPr/>
        </p:nvCxnSpPr>
        <p:spPr>
          <a:xfrm flipV="1">
            <a:off x="1639594" y="4037481"/>
            <a:ext cx="1016133" cy="134112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58"/>
          <p:cNvSpPr/>
          <p:nvPr/>
        </p:nvSpPr>
        <p:spPr>
          <a:xfrm>
            <a:off x="2534046" y="3991232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61"/>
          <p:cNvSpPr/>
          <p:nvPr/>
        </p:nvSpPr>
        <p:spPr>
          <a:xfrm>
            <a:off x="1516517" y="5332464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56"/>
              <p:cNvSpPr txBox="1"/>
              <p:nvPr/>
            </p:nvSpPr>
            <p:spPr>
              <a:xfrm>
                <a:off x="4444973" y="5933200"/>
                <a:ext cx="7437826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, the particle becomes a stationary node.</a:t>
                </a:r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973" y="5933200"/>
                <a:ext cx="743782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8" t="-107" r="1" b="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Springs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about multiple springs?  The Gauss-Seidel approach projects each spring sequentially in a certain order. 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Springs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/>
          <a:lstStyle/>
          <a:p>
            <a:r>
              <a:rPr lang="en-US" altLang="zh-CN" dirty="0"/>
              <a:t>What about multiple springs?  The Gauss-Seidel approach projects each spring sequentially in a certain order. 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" y="2505075"/>
            <a:ext cx="1133475" cy="4267200"/>
          </a:xfrm>
          <a:prstGeom prst="rect">
            <a:avLst/>
          </a:prstGeom>
        </p:spPr>
      </p:pic>
      <p:sp>
        <p:nvSpPr>
          <p:cNvPr id="30" name="内容占位符 2"/>
          <p:cNvSpPr txBox="1"/>
          <p:nvPr/>
        </p:nvSpPr>
        <p:spPr>
          <a:xfrm>
            <a:off x="2809876" y="3038475"/>
            <a:ext cx="7867650" cy="171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Suppose there are two springs and their rest lengths are 1.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We can start from solving the first spring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Springs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/>
          <a:lstStyle/>
          <a:p>
            <a:r>
              <a:rPr lang="en-US" altLang="zh-CN" dirty="0"/>
              <a:t>What about multiple springs?  The Gauss-Seidel approach projects each spring sequentially in a certain order.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62" y="2466975"/>
            <a:ext cx="3305175" cy="4524375"/>
          </a:xfrm>
          <a:prstGeom prst="rect">
            <a:avLst/>
          </a:prstGeom>
        </p:spPr>
      </p:pic>
      <p:sp>
        <p:nvSpPr>
          <p:cNvPr id="8" name="内容占位符 2"/>
          <p:cNvSpPr txBox="1"/>
          <p:nvPr/>
        </p:nvSpPr>
        <p:spPr>
          <a:xfrm>
            <a:off x="4495801" y="3014662"/>
            <a:ext cx="6448424" cy="171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After the first spring satisfies the constraint,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We solve the second spring.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Springs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/>
          <a:lstStyle/>
          <a:p>
            <a:r>
              <a:rPr lang="en-US" altLang="zh-CN" dirty="0"/>
              <a:t>What about multiple springs?  The Gauss-Seidel approach projects each spring sequentially in a certain order.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62" y="2486025"/>
            <a:ext cx="5591175" cy="4371975"/>
          </a:xfrm>
          <a:prstGeom prst="rect">
            <a:avLst/>
          </a:prstGeom>
        </p:spPr>
      </p:pic>
      <p:sp>
        <p:nvSpPr>
          <p:cNvPr id="7" name="内容占位符 2"/>
          <p:cNvSpPr txBox="1"/>
          <p:nvPr/>
        </p:nvSpPr>
        <p:spPr>
          <a:xfrm>
            <a:off x="6210301" y="2957512"/>
            <a:ext cx="5467349" cy="171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However, when the second spring satisfies the constraint, the first spring violates it again.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Springs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</a:rPr>
              <a:t>We repeat this process iteratively, and the final result will converge to the constraint.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562225"/>
            <a:ext cx="1123950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PBD Simulator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Based on the projective approach, we can now build a PBD simulator.</a:t>
            </a:r>
            <a:endParaRPr lang="zh-CN" alt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3945050" y="3024468"/>
            <a:ext cx="4065475" cy="3201707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5" name="Rectangle 41"/>
          <p:cNvSpPr/>
          <p:nvPr/>
        </p:nvSpPr>
        <p:spPr>
          <a:xfrm>
            <a:off x="4960085" y="3055394"/>
            <a:ext cx="2188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A PBD Simulator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42"/>
              <p:cNvSpPr/>
              <p:nvPr/>
            </p:nvSpPr>
            <p:spPr>
              <a:xfrm>
                <a:off x="4287561" y="3536929"/>
                <a:ext cx="2072005" cy="3987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latin typeface="+mj-lt"/>
                  </a:rPr>
                  <a:t>//update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:endParaRPr lang="en-US" sz="2000" dirty="0">
                  <a:latin typeface="+mj-lt"/>
                </a:endParaRPr>
              </a:p>
            </p:txBody>
          </p:sp>
        </mc:Choice>
        <mc:Fallback>
          <p:sp>
            <p:nvSpPr>
              <p:cNvPr id="6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61" y="3536929"/>
                <a:ext cx="2072005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2" t="-154" r="-4105" b="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43"/>
              <p:cNvSpPr/>
              <p:nvPr/>
            </p:nvSpPr>
            <p:spPr>
              <a:xfrm>
                <a:off x="4287561" y="5062893"/>
                <a:ext cx="330351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0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rojection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7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61" y="5062893"/>
                <a:ext cx="3303518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" t="-9" r="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44"/>
              <p:cNvSpPr/>
              <p:nvPr/>
            </p:nvSpPr>
            <p:spPr>
              <a:xfrm>
                <a:off x="4287520" y="3868420"/>
                <a:ext cx="3533775" cy="398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m:rPr>
                          <m:sty m:val="p"/>
                        </m:rPr>
                        <a:rPr lang="en-US" sz="2000" i="0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20" y="3868420"/>
                <a:ext cx="3533775" cy="3987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45"/>
              <p:cNvSpPr/>
              <p:nvPr/>
            </p:nvSpPr>
            <p:spPr>
              <a:xfrm>
                <a:off x="4287520" y="4255135"/>
                <a:ext cx="2684780" cy="398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9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20" y="4255135"/>
                <a:ext cx="2684780" cy="3987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6"/>
          <p:cNvSpPr/>
          <p:nvPr/>
        </p:nvSpPr>
        <p:spPr>
          <a:xfrm>
            <a:off x="4287561" y="4654833"/>
            <a:ext cx="14357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//projection</a:t>
            </a:r>
            <a:endParaRPr lang="en-US" sz="20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47"/>
              <p:cNvSpPr/>
              <p:nvPr/>
            </p:nvSpPr>
            <p:spPr>
              <a:xfrm>
                <a:off x="4287561" y="5433034"/>
                <a:ext cx="3004482" cy="398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11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61" y="5433034"/>
                <a:ext cx="3004482" cy="398780"/>
              </a:xfrm>
              <a:prstGeom prst="rect">
                <a:avLst/>
              </a:prstGeom>
              <a:blipFill rotWithShape="1">
                <a:blip r:embed="rId5"/>
                <a:stretch>
                  <a:fillRect l="-1" t="-153" r="11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48"/>
              <p:cNvSpPr/>
              <p:nvPr/>
            </p:nvSpPr>
            <p:spPr>
              <a:xfrm>
                <a:off x="4287561" y="5826065"/>
                <a:ext cx="300448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12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61" y="5826065"/>
                <a:ext cx="3004482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" t="-144" r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PBD Simulator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PBD does not have many concept of physics, e.g., stiffness coefficient, elastic force. How do we describe how much stiffness is there?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PBD Simulator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5675"/>
          </a:xfrm>
        </p:spPr>
        <p:txBody>
          <a:bodyPr>
            <a:normAutofit/>
          </a:bodyPr>
          <a:lstStyle/>
          <a:p>
            <a:r>
              <a:rPr lang="en-US" altLang="zh-CN" dirty="0"/>
              <a:t>The stiffness of the constraints is controlled by non-physical parameters.</a:t>
            </a:r>
            <a:endParaRPr lang="en-US" altLang="zh-CN" dirty="0"/>
          </a:p>
          <a:p>
            <a:pPr lvl="1"/>
            <a:r>
              <a:rPr lang="en-US" altLang="zh-CN" dirty="0"/>
              <a:t>The number of iterations</a:t>
            </a:r>
            <a:endParaRPr lang="en-US" altLang="zh-CN" dirty="0"/>
          </a:p>
          <a:p>
            <a:pPr lvl="2"/>
            <a:r>
              <a:rPr lang="en-US" altLang="zh-CN" dirty="0"/>
              <a:t>When there’re more iteration, the edge lengths converge to the rest lengths, i.e., it looks more stiff.</a:t>
            </a:r>
            <a:endParaRPr lang="en-US" altLang="zh-CN" dirty="0"/>
          </a:p>
          <a:p>
            <a:pPr lvl="1"/>
            <a:r>
              <a:rPr lang="en-US" altLang="zh-CN" dirty="0"/>
              <a:t>The mesh resolution</a:t>
            </a:r>
            <a:endParaRPr lang="en-US" altLang="zh-CN" dirty="0"/>
          </a:p>
          <a:p>
            <a:pPr lvl="2"/>
            <a:r>
              <a:rPr lang="en-US" altLang="zh-CN" dirty="0"/>
              <a:t>When the mesh has a lower resolution, it leads to faster convergence. Thus, with the same number of iterations, it looks more stiff.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PBD Simulator</a:t>
            </a:r>
            <a:endParaRPr lang="zh-CN" altLang="en-US" dirty="0"/>
          </a:p>
        </p:txBody>
      </p:sp>
      <p:sp>
        <p:nvSpPr>
          <p:cNvPr id="6" name="Content Placeholder 2"/>
          <p:cNvSpPr txBox="1"/>
          <p:nvPr/>
        </p:nvSpPr>
        <p:spPr>
          <a:xfrm>
            <a:off x="703580" y="1596390"/>
            <a:ext cx="9584690" cy="4317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/>
                </a:solidFill>
                <a:latin typeface="+mj-lt"/>
              </a:rPr>
              <a:t>Advantages</a:t>
            </a:r>
            <a:endParaRPr lang="en-US" altLang="zh-CN" sz="2400" dirty="0">
              <a:solidFill>
                <a:schemeClr val="accent6"/>
              </a:solidFill>
              <a:latin typeface="+mj-lt"/>
            </a:endParaRPr>
          </a:p>
          <a:p>
            <a:pPr lvl="1"/>
            <a:r>
              <a:rPr lang="en-US" sz="2000" dirty="0">
                <a:solidFill>
                  <a:schemeClr val="accent6"/>
                </a:solidFill>
                <a:latin typeface="+mj-lt"/>
              </a:rPr>
              <a:t>Easy to implement</a:t>
            </a:r>
            <a:endParaRPr lang="en-US" sz="2000" dirty="0">
              <a:solidFill>
                <a:schemeClr val="accent6"/>
              </a:solidFill>
              <a:latin typeface="+mj-lt"/>
            </a:endParaRPr>
          </a:p>
          <a:p>
            <a:pPr lvl="1"/>
            <a:r>
              <a:rPr lang="en-US" sz="2000" dirty="0">
                <a:solidFill>
                  <a:schemeClr val="accent6"/>
                </a:solidFill>
                <a:latin typeface="+mj-lt"/>
              </a:rPr>
              <a:t>Fast in low resolutions</a:t>
            </a:r>
            <a:endParaRPr lang="en-US" sz="1000" dirty="0">
              <a:latin typeface="+mj-lt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+mj-lt"/>
              </a:rPr>
              <a:t>D</a:t>
            </a:r>
            <a:r>
              <a:rPr lang="en-US" altLang="zh-CN" sz="2400" dirty="0">
                <a:solidFill>
                  <a:schemeClr val="accent2"/>
                </a:solidFill>
                <a:latin typeface="+mj-lt"/>
              </a:rPr>
              <a:t>isadvantages</a:t>
            </a:r>
            <a:endParaRPr lang="en-US" altLang="zh-CN" sz="2400" dirty="0">
              <a:solidFill>
                <a:schemeClr val="accent2"/>
              </a:solidFill>
              <a:latin typeface="+mj-lt"/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+mj-lt"/>
              </a:rPr>
              <a:t>Not physically correct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+mj-lt"/>
              </a:rPr>
              <a:t>Low performance in high resolutions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914400" lvl="2" indent="0">
              <a:buNone/>
            </a:pPr>
            <a:endParaRPr lang="en-US" sz="1600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Strain Limiting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Besides PBD, strain limiting (projective function) can be used elsewhere.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3698670" y="2975573"/>
            <a:ext cx="4065475" cy="3201707"/>
            <a:chOff x="9324" y="4686"/>
            <a:chExt cx="6402" cy="5042"/>
          </a:xfrm>
        </p:grpSpPr>
        <p:sp>
          <p:nvSpPr>
            <p:cNvPr id="16" name="Title 1"/>
            <p:cNvSpPr txBox="1"/>
            <p:nvPr/>
          </p:nvSpPr>
          <p:spPr>
            <a:xfrm>
              <a:off x="9324" y="4686"/>
              <a:ext cx="6402" cy="504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dk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 sz="2400" dirty="0"/>
            </a:p>
          </p:txBody>
        </p:sp>
        <p:sp>
          <p:nvSpPr>
            <p:cNvPr id="17" name="Rectangle 41"/>
            <p:cNvSpPr/>
            <p:nvPr/>
          </p:nvSpPr>
          <p:spPr>
            <a:xfrm>
              <a:off x="9863" y="4768"/>
              <a:ext cx="569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sz="2400" dirty="0">
                  <a:latin typeface="+mj-lt"/>
                </a:rPr>
                <a:t>A </a:t>
              </a:r>
              <a:r>
                <a:rPr lang="en-US" altLang="zh-CN" sz="2400" dirty="0">
                  <a:sym typeface="+mn-ea"/>
                </a:rPr>
                <a:t>Strain Limiting</a:t>
              </a:r>
              <a:r>
                <a:rPr lang="en-US" sz="2400" dirty="0">
                  <a:latin typeface="+mj-lt"/>
                </a:rPr>
                <a:t> Simulator</a:t>
              </a:r>
              <a:endParaRPr lang="en-US" sz="2400" dirty="0">
                <a:latin typeface="+mj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Rectangle 42"/>
                <p:cNvSpPr/>
                <p:nvPr/>
              </p:nvSpPr>
              <p:spPr>
                <a:xfrm>
                  <a:off x="9863" y="5493"/>
                  <a:ext cx="3263" cy="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>
                      <a:latin typeface="+mj-lt"/>
                    </a:rPr>
                    <a:t>//update </a:t>
                  </a:r>
                  <a14:m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2000" dirty="0">
                      <a:latin typeface="+mj-lt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𝐯</m:t>
                      </m:r>
                    </m:oMath>
                  </a14:m>
                  <a:r>
                    <a:rPr lang="en-US" sz="2000" dirty="0">
                      <a:latin typeface="+mj-lt"/>
                    </a:rPr>
                    <a:t> </a:t>
                  </a:r>
                  <a:endParaRPr lang="en-US" sz="2000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18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5493"/>
                  <a:ext cx="3263" cy="628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43"/>
                <p:cNvSpPr/>
                <p:nvPr/>
              </p:nvSpPr>
              <p:spPr>
                <a:xfrm>
                  <a:off x="9863" y="7896"/>
                  <a:ext cx="5202" cy="6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rojection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19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7896"/>
                  <a:ext cx="5202" cy="63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44"/>
                <p:cNvSpPr/>
                <p:nvPr/>
              </p:nvSpPr>
              <p:spPr>
                <a:xfrm>
                  <a:off x="9863" y="6015"/>
                  <a:ext cx="5565" cy="6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en-US" sz="2000" i="0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0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6015"/>
                  <a:ext cx="5565" cy="62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Rectangle 45"/>
                <p:cNvSpPr/>
                <p:nvPr/>
              </p:nvSpPr>
              <p:spPr>
                <a:xfrm>
                  <a:off x="9863" y="6624"/>
                  <a:ext cx="4228" cy="6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1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6624"/>
                  <a:ext cx="4228" cy="62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46"/>
            <p:cNvSpPr/>
            <p:nvPr/>
          </p:nvSpPr>
          <p:spPr>
            <a:xfrm>
              <a:off x="9863" y="7253"/>
              <a:ext cx="2261" cy="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sz="2000" dirty="0">
                  <a:latin typeface="+mj-lt"/>
                </a:rPr>
                <a:t>//</a:t>
              </a:r>
              <a:r>
                <a:rPr lang="en-US" sz="2000" dirty="0">
                  <a:latin typeface="+mj-lt"/>
                  <a:sym typeface="+mn-ea"/>
                </a:rPr>
                <a:t>projection</a:t>
              </a:r>
              <a:endParaRPr lang="en-US" sz="2000" dirty="0">
                <a:latin typeface="+mj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 47"/>
                <p:cNvSpPr/>
                <p:nvPr/>
              </p:nvSpPr>
              <p:spPr>
                <a:xfrm>
                  <a:off x="9863" y="8479"/>
                  <a:ext cx="4731" cy="6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3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8479"/>
                  <a:ext cx="4731" cy="628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 48"/>
                <p:cNvSpPr/>
                <p:nvPr/>
              </p:nvSpPr>
              <p:spPr>
                <a:xfrm>
                  <a:off x="9863" y="9098"/>
                  <a:ext cx="4731" cy="6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p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4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" y="9098"/>
                  <a:ext cx="4731" cy="63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Strain Limiting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2950" y="1824355"/>
            <a:ext cx="10515600" cy="1663700"/>
          </a:xfrm>
        </p:spPr>
        <p:txBody>
          <a:bodyPr/>
          <a:lstStyle/>
          <a:p>
            <a:r>
              <a:rPr lang="en-US" altLang="zh-CN" dirty="0"/>
              <a:t>Strain limiting aims at using the projection function for correction only.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Strain Limiting</a:t>
            </a:r>
            <a:endParaRPr lang="zh-CN" altLang="en-US" dirty="0"/>
          </a:p>
        </p:txBody>
      </p:sp>
      <p:sp>
        <p:nvSpPr>
          <p:cNvPr id="61" name="Title 1"/>
          <p:cNvSpPr txBox="1"/>
          <p:nvPr/>
        </p:nvSpPr>
        <p:spPr>
          <a:xfrm>
            <a:off x="8289939" y="2488684"/>
            <a:ext cx="3218537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sp>
        <p:nvSpPr>
          <p:cNvPr id="62" name="Title 1"/>
          <p:cNvSpPr txBox="1"/>
          <p:nvPr/>
        </p:nvSpPr>
        <p:spPr>
          <a:xfrm>
            <a:off x="4506044" y="2488684"/>
            <a:ext cx="3493336" cy="3543190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p:cxnSp>
        <p:nvCxnSpPr>
          <p:cNvPr id="63" name="Straight Connector 3"/>
          <p:cNvCxnSpPr/>
          <p:nvPr/>
        </p:nvCxnSpPr>
        <p:spPr>
          <a:xfrm flipV="1">
            <a:off x="4953122" y="2693848"/>
            <a:ext cx="2233834" cy="29482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25"/>
              <p:cNvSpPr txBox="1"/>
              <p:nvPr/>
            </p:nvSpPr>
            <p:spPr>
              <a:xfrm>
                <a:off x="1072976" y="3882511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64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76" y="3882511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3" r="13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26"/>
          <p:cNvSpPr/>
          <p:nvPr/>
        </p:nvSpPr>
        <p:spPr>
          <a:xfrm>
            <a:off x="2894480" y="373134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27"/>
              <p:cNvSpPr txBox="1"/>
              <p:nvPr/>
            </p:nvSpPr>
            <p:spPr>
              <a:xfrm>
                <a:off x="1375978" y="3366610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66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978" y="3366610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9" r="1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28"/>
          <p:cNvSpPr/>
          <p:nvPr/>
        </p:nvSpPr>
        <p:spPr>
          <a:xfrm>
            <a:off x="1178924" y="372674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29"/>
              <p:cNvSpPr txBox="1"/>
              <p:nvPr/>
            </p:nvSpPr>
            <p:spPr>
              <a:xfrm>
                <a:off x="2788053" y="3861716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68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53" y="3861716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70" r="1" b="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"/>
          <p:cNvSpPr/>
          <p:nvPr/>
        </p:nvSpPr>
        <p:spPr>
          <a:xfrm>
            <a:off x="1375978" y="5272031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45"/>
              <p:cNvSpPr txBox="1"/>
              <p:nvPr/>
            </p:nvSpPr>
            <p:spPr>
              <a:xfrm>
                <a:off x="5031989" y="5506080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0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989" y="5506080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51" t="-171" r="100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47"/>
          <p:cNvSpPr/>
          <p:nvPr/>
        </p:nvSpPr>
        <p:spPr>
          <a:xfrm>
            <a:off x="7095312" y="259781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48"/>
          <p:cNvSpPr/>
          <p:nvPr/>
        </p:nvSpPr>
        <p:spPr>
          <a:xfrm>
            <a:off x="4867762" y="5553208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49"/>
              <p:cNvSpPr txBox="1"/>
              <p:nvPr/>
            </p:nvSpPr>
            <p:spPr>
              <a:xfrm>
                <a:off x="7228473" y="2524502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73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473" y="2524502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55" t="-94" r="10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60"/>
              <p:cNvSpPr txBox="1"/>
              <p:nvPr/>
            </p:nvSpPr>
            <p:spPr>
              <a:xfrm>
                <a:off x="5490525" y="5027288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74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525" y="5027288"/>
                <a:ext cx="486013" cy="370614"/>
              </a:xfrm>
              <a:prstGeom prst="rect">
                <a:avLst/>
              </a:prstGeom>
              <a:blipFill rotWithShape="1">
                <a:blip r:embed="rId4"/>
                <a:stretch>
                  <a:fillRect l="-65" t="-169" r="-29022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62"/>
          <p:cNvCxnSpPr>
            <a:stCxn id="67" idx="6"/>
            <a:endCxn id="65" idx="2"/>
          </p:cNvCxnSpPr>
          <p:nvPr/>
        </p:nvCxnSpPr>
        <p:spPr>
          <a:xfrm>
            <a:off x="1362212" y="3818385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64"/>
              <p:cNvSpPr txBox="1"/>
              <p:nvPr/>
            </p:nvSpPr>
            <p:spPr>
              <a:xfrm>
                <a:off x="6953268" y="3080024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76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68" y="3080024"/>
                <a:ext cx="486013" cy="412421"/>
              </a:xfrm>
              <a:prstGeom prst="rect">
                <a:avLst/>
              </a:prstGeom>
              <a:blipFill rotWithShape="1">
                <a:blip r:embed="rId5"/>
                <a:stretch>
                  <a:fillRect l="-4" t="-66" r="-29083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ight Arrow 14"/>
          <p:cNvSpPr/>
          <p:nvPr/>
        </p:nvSpPr>
        <p:spPr>
          <a:xfrm rot="18518239">
            <a:off x="4680085" y="5193558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ight Arrow 65"/>
          <p:cNvSpPr/>
          <p:nvPr/>
        </p:nvSpPr>
        <p:spPr>
          <a:xfrm rot="18518239" flipH="1">
            <a:off x="6555934" y="2704935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" name="Straight Connector 66"/>
          <p:cNvCxnSpPr/>
          <p:nvPr/>
        </p:nvCxnSpPr>
        <p:spPr>
          <a:xfrm flipV="1">
            <a:off x="5641079" y="3403386"/>
            <a:ext cx="1016133" cy="1341120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58"/>
          <p:cNvSpPr/>
          <p:nvPr/>
        </p:nvSpPr>
        <p:spPr>
          <a:xfrm>
            <a:off x="6535531" y="335713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61"/>
          <p:cNvSpPr/>
          <p:nvPr/>
        </p:nvSpPr>
        <p:spPr>
          <a:xfrm>
            <a:off x="5518002" y="4698369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Straight Connector 67"/>
          <p:cNvCxnSpPr/>
          <p:nvPr/>
        </p:nvCxnSpPr>
        <p:spPr>
          <a:xfrm>
            <a:off x="9142822" y="3797623"/>
            <a:ext cx="1368399" cy="1237499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68"/>
              <p:cNvSpPr txBox="1"/>
              <p:nvPr/>
            </p:nvSpPr>
            <p:spPr>
              <a:xfrm>
                <a:off x="9605983" y="3906918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83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983" y="3906918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0" t="-108" r="119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69"/>
          <p:cNvSpPr/>
          <p:nvPr/>
        </p:nvSpPr>
        <p:spPr>
          <a:xfrm>
            <a:off x="10483415" y="499230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5" name="Oval 70"/>
          <p:cNvSpPr/>
          <p:nvPr/>
        </p:nvSpPr>
        <p:spPr>
          <a:xfrm>
            <a:off x="10113897" y="4667289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71"/>
              <p:cNvSpPr txBox="1"/>
              <p:nvPr/>
            </p:nvSpPr>
            <p:spPr>
              <a:xfrm>
                <a:off x="10084658" y="4249126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86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658" y="4249126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46" t="-85" r="9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72"/>
              <p:cNvSpPr txBox="1"/>
              <p:nvPr/>
            </p:nvSpPr>
            <p:spPr>
              <a:xfrm>
                <a:off x="9452069" y="3594346"/>
                <a:ext cx="486013" cy="370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87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069" y="3594346"/>
                <a:ext cx="486013" cy="370614"/>
              </a:xfrm>
              <a:prstGeom prst="rect">
                <a:avLst/>
              </a:prstGeom>
              <a:blipFill rotWithShape="1">
                <a:blip r:embed="rId4"/>
                <a:stretch>
                  <a:fillRect l="-19" t="-66" r="-29068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73"/>
              <p:cNvSpPr txBox="1"/>
              <p:nvPr/>
            </p:nvSpPr>
            <p:spPr>
              <a:xfrm>
                <a:off x="10511388" y="4512126"/>
                <a:ext cx="486013" cy="412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88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388" y="4512126"/>
                <a:ext cx="486013" cy="412421"/>
              </a:xfrm>
              <a:prstGeom prst="rect">
                <a:avLst/>
              </a:prstGeom>
              <a:blipFill rotWithShape="1">
                <a:blip r:embed="rId5"/>
                <a:stretch>
                  <a:fillRect l="-48" t="-109" r="-29039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ight Arrow 74"/>
          <p:cNvSpPr/>
          <p:nvPr/>
        </p:nvSpPr>
        <p:spPr>
          <a:xfrm rot="2577772">
            <a:off x="9621733" y="4806906"/>
            <a:ext cx="520518" cy="2388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ight Arrow 75"/>
          <p:cNvSpPr/>
          <p:nvPr/>
        </p:nvSpPr>
        <p:spPr>
          <a:xfrm rot="2639429" flipH="1">
            <a:off x="9076246" y="4308270"/>
            <a:ext cx="552918" cy="2355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77"/>
          <p:cNvSpPr/>
          <p:nvPr/>
        </p:nvSpPr>
        <p:spPr>
          <a:xfrm>
            <a:off x="9058664" y="3702680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2" name="Oval 78"/>
          <p:cNvSpPr/>
          <p:nvPr/>
        </p:nvSpPr>
        <p:spPr>
          <a:xfrm>
            <a:off x="9423329" y="4046467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79"/>
          <p:cNvSpPr/>
          <p:nvPr/>
        </p:nvSpPr>
        <p:spPr>
          <a:xfrm>
            <a:off x="5342477" y="6013075"/>
            <a:ext cx="199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Stretched case</a:t>
            </a:r>
            <a:endParaRPr lang="en-US" sz="2400" dirty="0">
              <a:latin typeface="+mj-lt"/>
            </a:endParaRPr>
          </a:p>
        </p:txBody>
      </p:sp>
      <p:cxnSp>
        <p:nvCxnSpPr>
          <p:cNvPr id="94" name="Straight Connector 82"/>
          <p:cNvCxnSpPr/>
          <p:nvPr/>
        </p:nvCxnSpPr>
        <p:spPr>
          <a:xfrm>
            <a:off x="9569615" y="4202913"/>
            <a:ext cx="560964" cy="4912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83"/>
          <p:cNvSpPr/>
          <p:nvPr/>
        </p:nvSpPr>
        <p:spPr>
          <a:xfrm>
            <a:off x="8666760" y="6031210"/>
            <a:ext cx="2366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Compressed Case</a:t>
            </a:r>
            <a:endParaRPr lang="en-US" sz="2400" dirty="0">
              <a:latin typeface="+mj-lt"/>
            </a:endParaRPr>
          </a:p>
        </p:txBody>
      </p:sp>
      <p:sp>
        <p:nvSpPr>
          <p:cNvPr id="96" name="Oval 40"/>
          <p:cNvSpPr/>
          <p:nvPr/>
        </p:nvSpPr>
        <p:spPr>
          <a:xfrm>
            <a:off x="5283609" y="499230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41"/>
          <p:cNvSpPr/>
          <p:nvPr/>
        </p:nvSpPr>
        <p:spPr>
          <a:xfrm>
            <a:off x="6749069" y="3066075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Left Brace 2"/>
          <p:cNvSpPr/>
          <p:nvPr/>
        </p:nvSpPr>
        <p:spPr>
          <a:xfrm rot="2251778">
            <a:off x="5812736" y="3203429"/>
            <a:ext cx="213808" cy="1516240"/>
          </a:xfrm>
          <a:prstGeom prst="leftBrac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Rectangle 5"/>
              <p:cNvSpPr/>
              <p:nvPr/>
            </p:nvSpPr>
            <p:spPr>
              <a:xfrm>
                <a:off x="5484858" y="3627774"/>
                <a:ext cx="4233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858" y="3627774"/>
                <a:ext cx="423385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86" t="-4" r="-55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Oval 44"/>
          <p:cNvSpPr/>
          <p:nvPr/>
        </p:nvSpPr>
        <p:spPr>
          <a:xfrm>
            <a:off x="10299792" y="4838176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1" name="Oval 46"/>
          <p:cNvSpPr/>
          <p:nvPr/>
        </p:nvSpPr>
        <p:spPr>
          <a:xfrm>
            <a:off x="9241549" y="3875320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50"/>
              <p:cNvSpPr txBox="1"/>
              <p:nvPr/>
            </p:nvSpPr>
            <p:spPr>
              <a:xfrm>
                <a:off x="308176" y="4695848"/>
                <a:ext cx="3640339" cy="576183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sup>
                      </m:sSup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02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6" y="4695848"/>
                <a:ext cx="3640339" cy="576183"/>
              </a:xfrm>
              <a:prstGeom prst="rect">
                <a:avLst/>
              </a:prstGeom>
              <a:blipFill rotWithShape="1">
                <a:blip r:embed="rId7"/>
                <a:stretch>
                  <a:fillRect l="-180" t="-1106" r="-172" b="-105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itle 1"/>
              <p:cNvSpPr txBox="1"/>
              <p:nvPr/>
            </p:nvSpPr>
            <p:spPr>
              <a:xfrm>
                <a:off x="754508" y="1331470"/>
                <a:ext cx="10839785" cy="10685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>
                    <a:latin typeface="+mn-lt"/>
                  </a:rPr>
                  <a:t>We can set the spring strain, i.e., the stretching ratio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+mn-lt"/>
                  </a:rPr>
                  <a:t>, to be within a limit.</a:t>
                </a:r>
                <a:endParaRPr lang="en-US" sz="2400" dirty="0">
                  <a:latin typeface="+mn-lt"/>
                </a:endParaRPr>
              </a:p>
            </p:txBody>
          </p:sp>
        </mc:Choice>
        <mc:Fallback>
          <p:sp>
            <p:nvSpPr>
              <p:cNvPr id="10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8" y="1331470"/>
                <a:ext cx="10839785" cy="1068598"/>
              </a:xfrm>
              <a:prstGeom prst="rect">
                <a:avLst/>
              </a:prstGeom>
              <a:blipFill rotWithShape="1">
                <a:blip r:embed="rId8"/>
                <a:stretch>
                  <a:fillRect l="-1" t="-48" r="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Strain Limiting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25"/>
              <p:cNvSpPr txBox="1"/>
              <p:nvPr/>
            </p:nvSpPr>
            <p:spPr>
              <a:xfrm>
                <a:off x="1072976" y="3882511"/>
                <a:ext cx="48601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64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76" y="3882511"/>
                <a:ext cx="486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5" t="-33" r="13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26"/>
          <p:cNvSpPr/>
          <p:nvPr/>
        </p:nvSpPr>
        <p:spPr>
          <a:xfrm>
            <a:off x="2894480" y="373134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27"/>
              <p:cNvSpPr txBox="1"/>
              <p:nvPr/>
            </p:nvSpPr>
            <p:spPr>
              <a:xfrm>
                <a:off x="1375978" y="3366610"/>
                <a:ext cx="17129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+mj-lt"/>
                  </a:rPr>
                  <a:t>rest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66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978" y="3366610"/>
                <a:ext cx="17129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3" t="-129" r="1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28"/>
          <p:cNvSpPr/>
          <p:nvPr/>
        </p:nvSpPr>
        <p:spPr>
          <a:xfrm>
            <a:off x="1178924" y="3726741"/>
            <a:ext cx="183288" cy="1832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29"/>
              <p:cNvSpPr txBox="1"/>
              <p:nvPr/>
            </p:nvSpPr>
            <p:spPr>
              <a:xfrm>
                <a:off x="2788053" y="3861716"/>
                <a:ext cx="486013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68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53" y="3861716"/>
                <a:ext cx="486013" cy="399084"/>
              </a:xfrm>
              <a:prstGeom prst="rect">
                <a:avLst/>
              </a:prstGeom>
              <a:blipFill rotWithShape="1">
                <a:blip r:embed="rId3"/>
                <a:stretch>
                  <a:fillRect l="-83" t="-70" r="1" b="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"/>
          <p:cNvSpPr/>
          <p:nvPr/>
        </p:nvSpPr>
        <p:spPr>
          <a:xfrm>
            <a:off x="1375978" y="5272031"/>
            <a:ext cx="1472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j-lt"/>
              </a:rPr>
              <a:t>Constraint</a:t>
            </a:r>
            <a:endParaRPr lang="en-US" sz="2400" dirty="0">
              <a:latin typeface="+mj-lt"/>
            </a:endParaRPr>
          </a:p>
        </p:txBody>
      </p:sp>
      <p:cxnSp>
        <p:nvCxnSpPr>
          <p:cNvPr id="75" name="Straight Connector 62"/>
          <p:cNvCxnSpPr>
            <a:stCxn id="67" idx="6"/>
            <a:endCxn id="65" idx="2"/>
          </p:cNvCxnSpPr>
          <p:nvPr/>
        </p:nvCxnSpPr>
        <p:spPr>
          <a:xfrm>
            <a:off x="1362212" y="3818385"/>
            <a:ext cx="1532268" cy="4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50"/>
              <p:cNvSpPr txBox="1"/>
              <p:nvPr/>
            </p:nvSpPr>
            <p:spPr>
              <a:xfrm>
                <a:off x="308176" y="4695848"/>
                <a:ext cx="3640339" cy="576183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sup>
                      </m:sSup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02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6" y="4695848"/>
                <a:ext cx="3640339" cy="576183"/>
              </a:xfrm>
              <a:prstGeom prst="rect">
                <a:avLst/>
              </a:prstGeom>
              <a:blipFill rotWithShape="1">
                <a:blip r:embed="rId4"/>
                <a:stretch>
                  <a:fillRect l="-180" t="-1106" r="-172" b="-105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itle 1"/>
              <p:cNvSpPr txBox="1"/>
              <p:nvPr/>
            </p:nvSpPr>
            <p:spPr>
              <a:xfrm>
                <a:off x="754508" y="1331470"/>
                <a:ext cx="10839785" cy="10685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>
                    <a:latin typeface="+mn-lt"/>
                  </a:rPr>
                  <a:t>We can set the spring strain, i.e., the stretching ratio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>
                    <a:latin typeface="+mn-lt"/>
                  </a:rPr>
                  <a:t>, to be within a limit.</a:t>
                </a:r>
                <a:endParaRPr lang="en-US" sz="2400" dirty="0">
                  <a:latin typeface="+mn-lt"/>
                </a:endParaRPr>
              </a:p>
            </p:txBody>
          </p:sp>
        </mc:Choice>
        <mc:Fallback>
          <p:sp>
            <p:nvSpPr>
              <p:cNvPr id="10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8" y="1331470"/>
                <a:ext cx="10839785" cy="1068598"/>
              </a:xfrm>
              <a:prstGeom prst="rect">
                <a:avLst/>
              </a:prstGeom>
              <a:blipFill rotWithShape="1">
                <a:blip r:embed="rId5"/>
                <a:stretch>
                  <a:fillRect l="-1" t="-48" r="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/>
          <p:nvPr/>
        </p:nvSpPr>
        <p:spPr>
          <a:xfrm>
            <a:off x="4629875" y="2537372"/>
            <a:ext cx="6299432" cy="3196324"/>
          </a:xfrm>
          <a:prstGeom prst="rect">
            <a:avLst/>
          </a:prstGeom>
          <a:solidFill>
            <a:schemeClr val="bg2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51"/>
              <p:cNvSpPr/>
              <p:nvPr/>
            </p:nvSpPr>
            <p:spPr>
              <a:xfrm>
                <a:off x="4680675" y="4271525"/>
                <a:ext cx="6213072" cy="664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675" y="4271525"/>
                <a:ext cx="6213072" cy="664093"/>
              </a:xfrm>
              <a:prstGeom prst="rect">
                <a:avLst/>
              </a:prstGeom>
              <a:blipFill rotWithShape="1">
                <a:blip r:embed="rId6"/>
                <a:stretch>
                  <a:fillRect l="-1" t="-78" r="5" b="-5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2"/>
              <p:cNvSpPr/>
              <p:nvPr/>
            </p:nvSpPr>
            <p:spPr>
              <a:xfrm>
                <a:off x="4660355" y="4932121"/>
                <a:ext cx="6299432" cy="664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355" y="4932121"/>
                <a:ext cx="6299432" cy="664093"/>
              </a:xfrm>
              <a:prstGeom prst="rect">
                <a:avLst/>
              </a:prstGeom>
              <a:blipFill rotWithShape="1">
                <a:blip r:embed="rId7"/>
                <a:stretch>
                  <a:fillRect l="-1" t="-11" r="5" b="-6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4"/>
              <p:cNvSpPr txBox="1"/>
              <p:nvPr/>
            </p:nvSpPr>
            <p:spPr>
              <a:xfrm>
                <a:off x="6054404" y="2608082"/>
                <a:ext cx="311912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Projection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+mj-lt"/>
                </a:endParaRPr>
              </a:p>
            </p:txBody>
          </p:sp>
        </mc:Choice>
        <mc:Fallback>
          <p:sp>
            <p:nvSpPr>
              <p:cNvPr id="6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404" y="2608082"/>
                <a:ext cx="311912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0" t="-37" r="10" b="1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7"/>
              <p:cNvSpPr/>
              <p:nvPr/>
            </p:nvSpPr>
            <p:spPr>
              <a:xfrm>
                <a:off x="4607389" y="3746170"/>
                <a:ext cx="4643194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min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389" y="3746170"/>
                <a:ext cx="4643194" cy="509178"/>
              </a:xfrm>
              <a:prstGeom prst="rect">
                <a:avLst/>
              </a:prstGeom>
              <a:blipFill rotWithShape="1">
                <a:blip r:embed="rId9"/>
                <a:stretch>
                  <a:fillRect l="-10" t="-60" r="12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59"/>
              <p:cNvSpPr/>
              <p:nvPr/>
            </p:nvSpPr>
            <p:spPr>
              <a:xfrm>
                <a:off x="4802595" y="2980842"/>
                <a:ext cx="249670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95" y="2980842"/>
                <a:ext cx="2496709" cy="783804"/>
              </a:xfrm>
              <a:prstGeom prst="rect">
                <a:avLst/>
              </a:prstGeom>
              <a:blipFill rotWithShape="1">
                <a:blip r:embed="rId10"/>
                <a:stretch>
                  <a:fillRect l="-4" t="-19" r="25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itle 1"/>
              <p:cNvSpPr txBox="1"/>
              <p:nvPr/>
            </p:nvSpPr>
            <p:spPr>
              <a:xfrm>
                <a:off x="4816507" y="5768588"/>
                <a:ext cx="1753077" cy="6111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/>
                  <a:t>PBD: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; </a:t>
                </a:r>
                <a:endParaRPr lang="en-US" sz="2400" dirty="0"/>
              </a:p>
            </p:txBody>
          </p:sp>
        </mc:Choice>
        <mc:Fallback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07" y="5768588"/>
                <a:ext cx="1753077" cy="611132"/>
              </a:xfrm>
              <a:prstGeom prst="rect">
                <a:avLst/>
              </a:prstGeom>
              <a:blipFill rotWithShape="1">
                <a:blip r:embed="rId11"/>
                <a:stretch>
                  <a:fillRect l="-2" t="-41" r="29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6676</Words>
  <Application>WPS 演示</Application>
  <PresentationFormat>宽屏</PresentationFormat>
  <Paragraphs>366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Cambria Math</vt:lpstr>
      <vt:lpstr>等线 Light</vt:lpstr>
      <vt:lpstr>等线</vt:lpstr>
      <vt:lpstr>微软雅黑</vt:lpstr>
      <vt:lpstr>Arial Unicode MS</vt:lpstr>
      <vt:lpstr>Office 主题​​</vt:lpstr>
      <vt:lpstr>Data-driven computer animation</vt:lpstr>
      <vt:lpstr>Assignment 3</vt:lpstr>
      <vt:lpstr>PBD</vt:lpstr>
      <vt:lpstr>The Stiffness Issue</vt:lpstr>
      <vt:lpstr>A Single Spring</vt:lpstr>
      <vt:lpstr>A Single Spring</vt:lpstr>
      <vt:lpstr>A Single Spring</vt:lpstr>
      <vt:lpstr>A Single Spring</vt:lpstr>
      <vt:lpstr>A Single Spring</vt:lpstr>
      <vt:lpstr>A Single Spring</vt:lpstr>
      <vt:lpstr>A Single Spring</vt:lpstr>
      <vt:lpstr>Multiple Springs </vt:lpstr>
      <vt:lpstr>Multiple Springs </vt:lpstr>
      <vt:lpstr>Multiple Springs </vt:lpstr>
      <vt:lpstr>Multiple Springs </vt:lpstr>
      <vt:lpstr>Multiple Springs </vt:lpstr>
      <vt:lpstr>PBD Simulator</vt:lpstr>
      <vt:lpstr>PBD Simulator</vt:lpstr>
      <vt:lpstr>PBD Simulator</vt:lpstr>
      <vt:lpstr>PBD Simulator</vt:lpstr>
      <vt:lpstr>Strain Limiting</vt:lpstr>
      <vt:lpstr>Strain Limiting</vt:lpstr>
      <vt:lpstr>Strain Limiting</vt:lpstr>
      <vt:lpstr>Strain Limiting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Tutorial_7</dc:title>
  <dc:creator>Zhou</dc:creator>
  <cp:lastModifiedBy>村口的小Tony</cp:lastModifiedBy>
  <cp:revision>106</cp:revision>
  <dcterms:created xsi:type="dcterms:W3CDTF">2024-04-12T02:59:00Z</dcterms:created>
  <dcterms:modified xsi:type="dcterms:W3CDTF">2025-11-17T16:05:47Z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39F370B3F6F3445C82C125DBD6DFA3F4_12</vt:lpwstr>
  </property>
  <property fmtid="{D5CDD505-2E9C-101B-9397-08002B2CF9AE}" pid="3" name="KSOProductBuildVer">
    <vt:lpwstr>2052-12.1.0.23542</vt:lpwstr>
  </property>
</Properties>
</file>